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15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0972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Intelligent Pharmacy Inventory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C107"/>
                </a:solidFill>
                <a:latin typeface="Calibri"/>
              </a:defRPr>
            </a:pPr>
            <a:r>
              <a:t>Minimizing Waste &amp; Preventing Stockouts via</a:t>
            </a:r>
            <a:br/>
            <a:r>
              <a:t>Time-Series Forecasting and Cost-Aware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dirty="0"/>
              <a:t>Group </a:t>
            </a:r>
            <a:r>
              <a:rPr lang="en-US" dirty="0"/>
              <a:t>Project</a:t>
            </a:r>
            <a:r>
              <a:rPr dirty="0"/>
              <a:t>  |  Umais Siddiqui  •  David Greer  •  Inna </a:t>
            </a:r>
            <a:r>
              <a:rPr dirty="0" err="1"/>
              <a:t>Yedzinovich</a:t>
            </a:r>
            <a:r>
              <a:rPr lang="en-US" dirty="0"/>
              <a:t>  •  </a:t>
            </a:r>
            <a:r>
              <a:rPr lang="en-US" sz="1600" b="1" dirty="0"/>
              <a:t>Joao De Oliveira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rPr dirty="0"/>
              <a:t>DATA 622 — </a:t>
            </a:r>
            <a:r>
              <a:rPr lang="en-US" dirty="0"/>
              <a:t>Final Project Proposal</a:t>
            </a:r>
            <a:r>
              <a:rPr dirty="0"/>
              <a:t>  |  Spring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3291840"/>
            <a:ext cx="4846320" cy="381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Problem: The Optimization Paradox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109728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⚠  STOCKOUTS (Under-stocking)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Patient cannot fill prescription → health risk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Lost revenue + emergency reorder cost ($15–$50)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Patient churn: switches to competitor pharmacy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Regulatory / liability exposure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029200" cy="109728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800" b="1">
                <a:solidFill>
                  <a:srgbClr val="000000"/>
                </a:solidFill>
                <a:latin typeface="Calibri"/>
              </a:defRPr>
            </a:pPr>
            <a:r>
              <a:t>💸  WASTAGE (Over-stocking)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6517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Medications expire on shelf → destroyed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Holding costs: storage, insurance, refrigeration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Capital tied up in unsold inventory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Costs independent pharmacies $thousands/year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5029200"/>
            <a:ext cx="7589520" cy="1097280"/>
          </a:xfrm>
          <a:prstGeom prst="round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500" b="1">
                <a:solidFill>
                  <a:srgbClr val="FFFFFF"/>
                </a:solidFill>
                <a:latin typeface="Calibri"/>
              </a:defRPr>
            </a:pPr>
            <a:r>
              <a:t>Current methods (Min/Max, Static Averages) ignore seasonality,</a:t>
            </a:r>
            <a:br/>
            <a:r>
              <a:t>weekly patterns, and the asymmetric cost of these two risks.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Literature Review: Pharmacy Inventory Approaches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3291840" cy="64008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Traditional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 Min/Max reorder points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 EOQ (Economic Order Qty)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 ABC/XYZ classification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 Vendor Managed Inventory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280160"/>
            <a:ext cx="3474720" cy="640080"/>
          </a:xfrm>
          <a:prstGeom prst="round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ML / Time-Series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1031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 Rathipriya et al. (2023): Prophet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 for retail pharmacy (12–18% MAPE)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 Oliveira et al. (2023): Prophet vs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 LSTM vs XGBoost for hospitals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280160"/>
            <a:ext cx="3474720" cy="6400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Industry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1031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 CVS Health: gradient-boosted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 trees + Rx refill features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 McKesson/ABC: VMI systems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 Ghousi et al.: ARIMA for hospitals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06240"/>
            <a:ext cx="10972800" cy="9144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500" b="1">
                <a:solidFill>
                  <a:srgbClr val="FFC107"/>
                </a:solidFill>
                <a:latin typeface="Calibri"/>
              </a:defRPr>
            </a:pPr>
            <a:r>
              <a:t>Key Gap: Most approaches optimize for accuracy (MAPE) alone.</a:t>
            </a:r>
            <a:br/>
            <a:r>
              <a:t>Few integrate asymmetric cost functions that reflect real pharmacy economics.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94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8A745"/>
                </a:solidFill>
                <a:latin typeface="Calibri"/>
              </a:defRPr>
            </a:pPr>
            <a:r>
              <a:t>Our Contribution:  Prophet forecasting  +  Asymmetric cost functions  +  Pharmacy-centric reorder logic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Why MAPE Is Not Enough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C107"/>
                </a:solidFill>
                <a:latin typeface="Calibri"/>
              </a:defRPr>
            </a:pPr>
            <a:r>
              <a:t>MAPE = (1/n) ∑ |Aₜ – Fₜ| / Aₜ  ×  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MAPE is symmetric: it penalizes over-prediction and under-prediction equally.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651760"/>
            <a:ext cx="3200400" cy="54864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Error 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2651760"/>
            <a:ext cx="3200400" cy="54864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Business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2651760"/>
            <a:ext cx="3657600" cy="54864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Clinical Impact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291840"/>
            <a:ext cx="3200400" cy="73152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300" b="1">
                <a:solidFill>
                  <a:srgbClr val="FFC107"/>
                </a:solidFill>
                <a:latin typeface="Calibri"/>
              </a:defRPr>
            </a:pPr>
            <a:r>
              <a:t>Over-predict (+10 units)</a:t>
            </a:r>
            <a:br/>
            <a:r>
              <a:t>= Wastage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3291840"/>
            <a:ext cx="3200400" cy="73152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Holding cost;</a:t>
            </a:r>
            <a:br/>
            <a:r>
              <a:t>expiration risk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3291840"/>
            <a:ext cx="3657600" cy="73152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300" b="1">
                <a:solidFill>
                  <a:srgbClr val="28A745"/>
                </a:solidFill>
                <a:latin typeface="Calibri"/>
              </a:defRPr>
            </a:pPr>
            <a:r>
              <a:t>Minimal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114800"/>
            <a:ext cx="3200400" cy="73152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300" b="1">
                <a:solidFill>
                  <a:srgbClr val="DC3545"/>
                </a:solidFill>
                <a:latin typeface="Calibri"/>
              </a:defRPr>
            </a:pPr>
            <a:r>
              <a:t>Under-predict (−10 units)</a:t>
            </a:r>
            <a:br/>
            <a:r>
              <a:t>= Stockout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4114800"/>
            <a:ext cx="3200400" cy="73152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Lost revenue;</a:t>
            </a:r>
            <a:br/>
            <a:r>
              <a:t>emergency reorder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4114800"/>
            <a:ext cx="3657600" cy="73152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300" b="1">
                <a:solidFill>
                  <a:srgbClr val="DC3545"/>
                </a:solidFill>
                <a:latin typeface="Calibri"/>
              </a:defRPr>
            </a:pPr>
            <a:r>
              <a:t>Patient can't fill Rx;</a:t>
            </a:r>
            <a:br/>
            <a:r>
              <a:t>therapy interruption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5303520"/>
            <a:ext cx="8503920" cy="822960"/>
          </a:xfrm>
          <a:prstGeom prst="round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700" b="1">
                <a:solidFill>
                  <a:srgbClr val="FFFFFF"/>
                </a:solidFill>
                <a:latin typeface="Calibri"/>
              </a:defRPr>
            </a:pPr>
            <a:r>
              <a:t>Solution: Define asymmetric cost functions that weight</a:t>
            </a:r>
            <a:br/>
            <a:r>
              <a:t>stockouts 10× more heavily than wastage.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Asymmetric Cost Functions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303520" cy="54864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800" b="1">
                <a:solidFill>
                  <a:srgbClr val="000000"/>
                </a:solidFill>
                <a:latin typeface="Calibri"/>
              </a:defRPr>
            </a:pPr>
            <a:r>
              <a:t>Wastage Cost  Cᵂ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Cᵂ(t) = max(Fₜ – Aₜ, 0) × (c_unit × p_exp + c_hold)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 c_unit = drug acquisition cost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 p_exp = probability of expiration before sale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 c_hold = daily holding cost per unit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 Incurred ONLY when forecast &gt; actual demand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88720"/>
            <a:ext cx="5303520" cy="54864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Stockout Cost  Cˢ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Cˢ(t) = max(Aₜ – Fₜ, 0) × (α·c_unit + c_emerg + c_churn)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774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 α = 10 (asymmetric penalty multiplier)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 c_emerg = emergency reorder cost ($15–$50)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 c_churn = patient loss revenue impact ($5–$25)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 Incurred ONLY when actual &gt; forecast demand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10972800" cy="548640"/>
          </a:xfrm>
          <a:prstGeom prst="round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Practical Example: Amoxicillin 500mg  |  10-unit forecast error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20640"/>
            <a:ext cx="5303520" cy="10972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400" b="1">
                <a:solidFill>
                  <a:srgbClr val="FFC107"/>
                </a:solidFill>
                <a:latin typeface="Calibri"/>
              </a:defRPr>
            </a:pPr>
            <a:r>
              <a:t>Over-predict by 10 units:</a:t>
            </a:r>
            <a:br/>
            <a:r>
              <a:t>Cᵂ = 10 × ($0.50 × 0.05 + $0.03) = $0.55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5120640"/>
            <a:ext cx="5303520" cy="10972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400" b="1">
                <a:solidFill>
                  <a:srgbClr val="DC3545"/>
                </a:solidFill>
                <a:latin typeface="Calibri"/>
              </a:defRPr>
            </a:pPr>
            <a:r>
              <a:t>Under-predict by 10 units:</a:t>
            </a:r>
            <a:br/>
            <a:r>
              <a:t>Cˢ = 10 × (10×$0.50 + $25 + $10) = $400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Technical Architecture: Forecast → Cost-Optimal Reorder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828800" cy="822960"/>
          </a:xfrm>
          <a:prstGeom prst="roundRect">
            <a:avLst/>
          </a:prstGeom>
          <a:solidFill>
            <a:srgbClr val="FF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300" b="1">
                <a:solidFill>
                  <a:srgbClr val="000000"/>
                </a:solidFill>
                <a:latin typeface="Calibri"/>
              </a:defRPr>
            </a:pPr>
            <a:r>
              <a:t>Synthetic</a:t>
            </a:r>
            <a:br/>
            <a:r>
              <a:t>Data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463040"/>
            <a:ext cx="1828800" cy="822960"/>
          </a:xfrm>
          <a:prstGeom prst="round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300" b="1">
                <a:solidFill>
                  <a:srgbClr val="000000"/>
                </a:solidFill>
                <a:latin typeface="Calibri"/>
              </a:defRPr>
            </a:pPr>
            <a:r>
              <a:t>Data Prep</a:t>
            </a:r>
            <a:br/>
            <a:r>
              <a:t>&amp; EDA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1463040"/>
            <a:ext cx="1828800" cy="82296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Facebook</a:t>
            </a:r>
            <a:br/>
            <a:r>
              <a:t>Prophet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463040"/>
            <a:ext cx="1828800" cy="822960"/>
          </a:xfrm>
          <a:prstGeom prst="round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300" b="1">
                <a:solidFill>
                  <a:srgbClr val="000000"/>
                </a:solidFill>
                <a:latin typeface="Calibri"/>
              </a:defRPr>
            </a:pPr>
            <a:r>
              <a:t>30-Day</a:t>
            </a:r>
            <a:br/>
            <a:r>
              <a:t>Forecast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09760" y="1463040"/>
            <a:ext cx="1828800" cy="822960"/>
          </a:xfrm>
          <a:prstGeom prst="round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Reorder</a:t>
            </a:r>
            <a:br/>
            <a:r>
              <a:t>Engine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06039" y="1737360"/>
            <a:ext cx="274320" cy="27432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4800600" y="1737360"/>
            <a:ext cx="274319" cy="27432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6995159" y="1737360"/>
            <a:ext cx="274320" cy="27432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9189720" y="1737360"/>
            <a:ext cx="274320" cy="27432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C3545"/>
                </a:solidFill>
                <a:latin typeface="Calibri"/>
              </a:defRPr>
            </a:pPr>
            <a:r>
              <a:t>Cost Optimization Layer (NEW)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3200400"/>
            <a:ext cx="1828800" cy="82296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300" b="1">
                <a:solidFill>
                  <a:srgbClr val="000000"/>
                </a:solidFill>
                <a:latin typeface="Calibri"/>
              </a:defRPr>
            </a:pPr>
            <a:r>
              <a:t>Wastage</a:t>
            </a:r>
            <a:br/>
            <a:r>
              <a:t>Cost Cᵂ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3200400"/>
            <a:ext cx="1828800" cy="822960"/>
          </a:xfrm>
          <a:prstGeom prst="round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300" b="1">
                <a:solidFill>
                  <a:srgbClr val="000000"/>
                </a:solidFill>
                <a:latin typeface="Calibri"/>
              </a:defRPr>
            </a:pPr>
            <a:r>
              <a:t>Stockout</a:t>
            </a:r>
            <a:br/>
            <a:r>
              <a:t>Cost Cˢ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3200400"/>
            <a:ext cx="1828800" cy="822960"/>
          </a:xfrm>
          <a:prstGeom prst="roundRect">
            <a:avLst/>
          </a:prstGeom>
          <a:solidFill>
            <a:srgbClr val="FFE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300" b="1">
                <a:solidFill>
                  <a:srgbClr val="000000"/>
                </a:solidFill>
                <a:latin typeface="Calibri"/>
              </a:defRPr>
            </a:pPr>
            <a:r>
              <a:t>Total Loss</a:t>
            </a:r>
            <a:br/>
            <a:r>
              <a:t>L(t)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3200400"/>
            <a:ext cx="1828800" cy="82296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Cost-Optimal</a:t>
            </a:r>
            <a:br/>
            <a:r>
              <a:t>Order Q*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800600" y="3474720"/>
            <a:ext cx="274319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ight Arrow 17"/>
          <p:cNvSpPr/>
          <p:nvPr/>
        </p:nvSpPr>
        <p:spPr>
          <a:xfrm>
            <a:off x="6995159" y="3474720"/>
            <a:ext cx="27432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ght Arrow 18"/>
          <p:cNvSpPr/>
          <p:nvPr/>
        </p:nvSpPr>
        <p:spPr>
          <a:xfrm>
            <a:off x="9189720" y="3474720"/>
            <a:ext cx="27432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Down Arrow 19"/>
          <p:cNvSpPr/>
          <p:nvPr/>
        </p:nvSpPr>
        <p:spPr>
          <a:xfrm>
            <a:off x="5897879" y="2331720"/>
            <a:ext cx="274320" cy="731520"/>
          </a:xfrm>
          <a:prstGeom prst="downArrow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Down Arrow 20"/>
          <p:cNvSpPr/>
          <p:nvPr/>
        </p:nvSpPr>
        <p:spPr>
          <a:xfrm>
            <a:off x="8092440" y="2331720"/>
            <a:ext cx="274320" cy="731520"/>
          </a:xfrm>
          <a:prstGeom prst="downArrow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371600" y="4389120"/>
            <a:ext cx="9418320" cy="9144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500" b="1">
                <a:solidFill>
                  <a:srgbClr val="FFFFFF"/>
                </a:solidFill>
                <a:latin typeface="Calibri"/>
              </a:defRPr>
            </a:pPr>
            <a:r>
              <a:t>Because α = 10, the optimal order Q* lands near the 80th–90th percentile</a:t>
            </a:r>
            <a:br/>
            <a:r>
              <a:t>of Prophet's predicted demand distribution → prioritizes patient safety.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Tech Stack:  Python  •  Facebook Prophet  •  pandas  •  Streamlit Dashboard  •  Synthetic Data (HIPAA-safe)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Who Else Is Using Time-Series in Pharmacy?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3657600" cy="548640"/>
          </a:xfrm>
          <a:prstGeom prst="round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CVS Health (Huang et al., 2021)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28016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Gradient-boosted trees + time-series features for store-level demand.</a:t>
            </a:r>
            <a:br/>
            <a:r>
              <a:t>Integrates prescription refill cycle data as exogenous regressors.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39"/>
            <a:ext cx="3657600" cy="5486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Retail Pharmacy Chains (Rathipriya et al., 2023)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377439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Facebook Prophet for retail drug demand forecasting.</a:t>
            </a:r>
            <a:br/>
            <a:r>
              <a:t>Achieved 12–18% MAPE for chronic meds, 25–35% for seasonal drugs.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3657600" cy="54864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Hospital Pharmacies (Oliveira et al., 2023)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4747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Compared Prophet, LSTM, and XGBoost for pharmaceutical consumption.</a:t>
            </a:r>
            <a:br/>
            <a:r>
              <a:t>Prophet matched deep learning accuracy with less tuning overhead.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3657600" cy="54864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Wholesalers: McKesson, AmerisourceBergen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57200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VMI systems using proprietary demand signals and EDI integration.</a:t>
            </a:r>
            <a:br/>
            <a:r>
              <a:t>Optimize for distributor logistics, not pharmacy-level clinical priorities.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5669280"/>
            <a:ext cx="9418320" cy="7315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500" b="1">
                <a:solidFill>
                  <a:srgbClr val="FFFFFF"/>
                </a:solidFill>
                <a:latin typeface="Calibri"/>
              </a:defRPr>
            </a:pPr>
            <a:r>
              <a:t>Our Differentiator:  Prophet forecasting  +  Asymmetric cost penalties  +  Open-source, pharmacy-centric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Evaluation Framework &amp;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107"/>
                </a:solidFill>
                <a:latin typeface="Calibri"/>
              </a:defRPr>
            </a:pPr>
            <a:r>
              <a:t>Dual Evaluation Axes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286000" cy="548640"/>
          </a:xfrm>
          <a:prstGeom prst="round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Forecast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MAPE &lt; 20% for chronic drugs; MAE, RMSE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2286000" cy="54864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Business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514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Minimize asymmetric loss L_total over 30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2286000" cy="5486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Service Level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Fill rate &gt; 95% (% of demand met from stock)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107"/>
                </a:solidFill>
                <a:latin typeface="Calibri"/>
              </a:defRPr>
            </a:pPr>
            <a:r>
              <a:t>10-Week Timeline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737360"/>
            <a:ext cx="1371600" cy="457200"/>
          </a:xfrm>
          <a:prstGeom prst="round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  <a:latin typeface="Calibri"/>
              </a:defRPr>
            </a:pPr>
            <a:r>
              <a:t>Wk 1–2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7830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Data generation + EDA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2286000"/>
            <a:ext cx="1371600" cy="457200"/>
          </a:xfrm>
          <a:prstGeom prst="round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  <a:latin typeface="Calibri"/>
              </a:defRPr>
            </a:pPr>
            <a:r>
              <a:t>Wk 3–4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331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Prophet training + MAPE eval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834640"/>
            <a:ext cx="1371600" cy="457200"/>
          </a:xfrm>
          <a:prstGeom prst="round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  <a:latin typeface="Calibri"/>
              </a:defRPr>
            </a:pPr>
            <a:r>
              <a:t>Wk 5–6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8803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Cost function implementation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3383280"/>
            <a:ext cx="1371600" cy="457200"/>
          </a:xfrm>
          <a:prstGeom prst="round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  <a:latin typeface="Calibri"/>
              </a:defRPr>
            </a:pPr>
            <a:r>
              <a:t>Wk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429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Cost-optimal reorder engine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3931920"/>
            <a:ext cx="1371600" cy="457200"/>
          </a:xfrm>
          <a:prstGeom prst="round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  <a:latin typeface="Calibri"/>
              </a:defRPr>
            </a:pPr>
            <a:r>
              <a:t>Wk 9–10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97763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Streamlit dashboard + final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107"/>
                </a:solidFill>
                <a:latin typeface="Calibri"/>
              </a:defRPr>
            </a:pPr>
            <a:r>
              <a:t>Key Deliverables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7548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Trained Prophet models for 8 high-volatility medications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Asymmetric cost functions (wastage + stockout) integrated into decision engine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Interactive Streamlit dashboard with real-time reorder recommendations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Comprehensive evaluation: MAPE + asymmetric loss + service-level metrics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2560320"/>
            <a:ext cx="3931920" cy="381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C107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Group X  |  Umais Siddiqui  •  David Greer  •  Inna Yedzinovich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rPr dirty="0"/>
              <a:t>DATA 622 </a:t>
            </a:r>
            <a:r>
              <a:t>— </a:t>
            </a:r>
            <a:r>
              <a:rPr lang="en-US"/>
              <a:t>Final</a:t>
            </a:r>
            <a:r>
              <a:t> Project  | 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530352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8A745"/>
                </a:solidFill>
                <a:latin typeface="Calibri"/>
              </a:defRPr>
            </a:pPr>
            <a:r>
              <a:t>Prophet forecasting  →  Asymmetric cost functions  →  Smart reorder decisions</a:t>
            </a:r>
          </a:p>
          <a:p>
            <a:pPr>
              <a:spcAft>
                <a:spcPts val="400"/>
              </a:spcAft>
              <a:defRPr sz="1300">
                <a:solidFill>
                  <a:srgbClr val="28A745"/>
                </a:solidFill>
                <a:latin typeface="Calibri"/>
              </a:defRPr>
            </a:pPr>
            <a:r>
              <a:t>Stockout penalty (α=10) ensures patient safety is never compromised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8 Target Medications: Covering Every Demand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CCCCCC"/>
                </a:solidFill>
              </a:defRPr>
            </a:pPr>
            <a:r>
              <a:t>Selected to represent every major demand archetype in a community pharmacy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109728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600" b="1">
                <a:solidFill>
                  <a:srgbClr val="4A90D9"/>
                </a:solidFill>
              </a:rPr>
              <a:t>Chronic / Stable</a:t>
            </a:r>
          </a:p>
          <a:p>
            <a:r>
              <a:rPr sz="1300" b="1">
                <a:solidFill>
                  <a:srgbClr val="FFFFFF"/>
                </a:solidFill>
              </a:rPr>
              <a:t>Metformin 500mg</a:t>
            </a:r>
            <a:r>
              <a:rPr sz="1100">
                <a:solidFill>
                  <a:srgbClr val="BBBBBB"/>
                </a:solidFill>
              </a:rPr>
              <a:t>  -  Diabetes - high volume, very predictable demand</a:t>
            </a:r>
          </a:p>
          <a:p>
            <a:r>
              <a:rPr sz="1300" b="1">
                <a:solidFill>
                  <a:srgbClr val="FFFFFF"/>
                </a:solidFill>
              </a:rPr>
              <a:t>Lisinopril 10mg</a:t>
            </a:r>
            <a:r>
              <a:rPr sz="1100">
                <a:solidFill>
                  <a:srgbClr val="BBBBBB"/>
                </a:solidFill>
              </a:rPr>
              <a:t>  -  Hypertension - steady daily refills, minimal seasonality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5303520" cy="109728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D95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600" b="1">
                <a:solidFill>
                  <a:srgbClr val="D95353"/>
                </a:solidFill>
              </a:rPr>
              <a:t>Seasonal (Infection)</a:t>
            </a:r>
          </a:p>
          <a:p>
            <a:r>
              <a:rPr sz="1300" b="1">
                <a:solidFill>
                  <a:srgbClr val="FFFFFF"/>
                </a:solidFill>
              </a:rPr>
              <a:t>Amoxicillin 500mg</a:t>
            </a:r>
            <a:r>
              <a:rPr sz="1100">
                <a:solidFill>
                  <a:srgbClr val="BBBBBB"/>
                </a:solidFill>
              </a:rPr>
              <a:t>  -  Antibiotic - winter spike (flu/cold season)</a:t>
            </a:r>
          </a:p>
          <a:p>
            <a:r>
              <a:rPr sz="1300" b="1">
                <a:solidFill>
                  <a:srgbClr val="FFFFFF"/>
                </a:solidFill>
              </a:rPr>
              <a:t>Azithromycin 250mg</a:t>
            </a:r>
            <a:r>
              <a:rPr sz="1100">
                <a:solidFill>
                  <a:srgbClr val="BBBBBB"/>
                </a:solidFill>
              </a:rPr>
              <a:t>  -  Antibiotic - respiratory illness surge in winter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80360"/>
            <a:ext cx="5303520" cy="109728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5BB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600" b="1">
                <a:solidFill>
                  <a:srgbClr val="5BB85B"/>
                </a:solidFill>
              </a:rPr>
              <a:t>Seasonal / Environmental</a:t>
            </a:r>
          </a:p>
          <a:p>
            <a:r>
              <a:rPr sz="1300" b="1">
                <a:solidFill>
                  <a:srgbClr val="FFFFFF"/>
                </a:solidFill>
              </a:rPr>
              <a:t>Cetirizine 10mg</a:t>
            </a:r>
            <a:r>
              <a:rPr sz="1100">
                <a:solidFill>
                  <a:srgbClr val="BBBBBB"/>
                </a:solidFill>
              </a:rPr>
              <a:t>  -  Allergy - strong spring pollen spike</a:t>
            </a:r>
          </a:p>
          <a:p>
            <a:r>
              <a:rPr sz="1300" b="1">
                <a:solidFill>
                  <a:srgbClr val="FFFFFF"/>
                </a:solidFill>
              </a:rPr>
              <a:t>Albuterol Inhaler</a:t>
            </a:r>
            <a:r>
              <a:rPr sz="1100">
                <a:solidFill>
                  <a:srgbClr val="BBBBBB"/>
                </a:solidFill>
              </a:rPr>
              <a:t>  -  Asthma - weather &amp; air-quality sensitive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880360"/>
            <a:ext cx="5303520" cy="109728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C08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600" b="1">
                <a:solidFill>
                  <a:srgbClr val="C08BD9"/>
                </a:solidFill>
              </a:rPr>
              <a:t>Behavioral / High-Volume</a:t>
            </a:r>
          </a:p>
          <a:p>
            <a:r>
              <a:rPr sz="1300" b="1">
                <a:solidFill>
                  <a:srgbClr val="FFFFFF"/>
                </a:solidFill>
              </a:rPr>
              <a:t>Sertraline 50mg</a:t>
            </a:r>
            <a:r>
              <a:rPr sz="1100">
                <a:solidFill>
                  <a:srgbClr val="BBBBBB"/>
                </a:solidFill>
              </a:rPr>
              <a:t>  -  SSRI - winter SAD pattern + steady baseline</a:t>
            </a:r>
          </a:p>
          <a:p>
            <a:r>
              <a:rPr sz="1300" b="1">
                <a:solidFill>
                  <a:srgbClr val="FFFFFF"/>
                </a:solidFill>
              </a:rPr>
              <a:t>Omeprazole 20mg</a:t>
            </a:r>
            <a:r>
              <a:rPr sz="1100">
                <a:solidFill>
                  <a:srgbClr val="BBBBBB"/>
                </a:solidFill>
              </a:rPr>
              <a:t>  -  PPI - high-volume, OTC-adjacent, stable demand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CC00"/>
                </a:solidFill>
              </a:rPr>
              <a:t>Why these 8?  </a:t>
            </a:r>
            <a:r>
              <a:rPr sz="1300">
                <a:solidFill>
                  <a:srgbClr val="DDDDDD"/>
                </a:solidFill>
              </a:rPr>
              <a:t>If the model performs well across all demand archetypes — chronic, seasonal, weather-driven, and behavioral — it generalizes to any community pharmacy's full formulary.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3634</TotalTime>
  <Words>982</Words>
  <Application>Microsoft Office PowerPoint</Application>
  <PresentationFormat>Widescreen</PresentationFormat>
  <Paragraphs>116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office office</cp:lastModifiedBy>
  <cp:revision>4</cp:revision>
  <dcterms:created xsi:type="dcterms:W3CDTF">2013-01-27T09:14:16Z</dcterms:created>
  <dcterms:modified xsi:type="dcterms:W3CDTF">2026-03-08T10:35:12Z</dcterms:modified>
  <cp:category/>
</cp:coreProperties>
</file>